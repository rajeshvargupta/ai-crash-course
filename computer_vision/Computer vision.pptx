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Roboto Mon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835E78-AF98-4DD7-9368-07BF9D375FF5}">
  <a:tblStyle styleId="{69835E78-AF98-4DD7-9368-07BF9D375F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regular.fntdata"/><Relationship Id="rId20" Type="http://schemas.openxmlformats.org/officeDocument/2006/relationships/slide" Target="slides/slide14.xml"/><Relationship Id="rId42" Type="http://schemas.openxmlformats.org/officeDocument/2006/relationships/font" Target="fonts/RobotoMono-italic.fntdata"/><Relationship Id="rId41" Type="http://schemas.openxmlformats.org/officeDocument/2006/relationships/font" Target="fonts/RobotoMono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RobotoMono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1144b12e01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1144b12e01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144b12e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144b12e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144b12e0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144b12e0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144b12e0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1144b12e0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1144b12e0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1144b12e0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1144b12e0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1144b12e0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24c443a28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24c443a28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1144b12e01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1144b12e0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1144b12e01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1144b12e01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144b12e01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1144b12e01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1144b12e01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1144b12e01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144b12e0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144b12e0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144b12e0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144b12e0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1144b12e01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1144b12e0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144b12e0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1144b12e0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1144b12e01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1144b12e0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144b12e01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144b12e0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1144b12e0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1144b12e0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1144b12e01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1144b12e01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144b12e01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1144b12e01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1144b12e01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1144b12e01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a131f187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a131f187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a131f187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a131f187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a131f187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a131f187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a131f187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a131f187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a131f187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a131f187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a131f187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a131f187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a131f187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a131f187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a131f187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a131f187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a131f187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a131f187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a131f187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a131f187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a131f187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a131f187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poloclub.github.io/cnn-explainer/" TargetMode="External"/><Relationship Id="rId4" Type="http://schemas.openxmlformats.org/officeDocument/2006/relationships/hyperlink" Target="https://deeplizard.com/resource/pavq7noze2" TargetMode="External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playground.roboflow.com/classification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481525" y="21350"/>
            <a:ext cx="5492400" cy="79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</a:t>
            </a:r>
            <a:r>
              <a:rPr lang="en"/>
              <a:t>vision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600" y="706300"/>
            <a:ext cx="6707949" cy="428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" name="Google Shape;56;p13"/>
          <p:cNvCxnSpPr/>
          <p:nvPr/>
        </p:nvCxnSpPr>
        <p:spPr>
          <a:xfrm flipH="1" rot="10800000">
            <a:off x="7328700" y="1583625"/>
            <a:ext cx="159300" cy="2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1444725" y="532750"/>
            <a:ext cx="45861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Image classification: class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Object localization : location of object + class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Object detection : location + confidence score + class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Object recognition: Similarity score + class(name)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Object Segmentation :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Action Recognition :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Augmentation :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Object Tracking :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1444725" y="3844975"/>
            <a:ext cx="4586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Image : matrix of pixels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Video: FPS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232650"/>
            <a:ext cx="8520600" cy="46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: </a:t>
            </a:r>
            <a:r>
              <a:rPr lang="en" sz="1200"/>
              <a:t>Arrangement of pixels ("picture element," is the smallest unit of a digital image that can be displayed and manipulated on a screen.)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RGB Channels: 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Red</a:t>
            </a:r>
            <a:r>
              <a:rPr lang="en" sz="1100">
                <a:solidFill>
                  <a:schemeClr val="dk1"/>
                </a:solidFill>
              </a:rPr>
              <a:t>: (255, 0, 0) 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Green</a:t>
            </a:r>
            <a:r>
              <a:rPr lang="en" sz="1100">
                <a:solidFill>
                  <a:schemeClr val="dk1"/>
                </a:solidFill>
              </a:rPr>
              <a:t>: (0, 255, 0)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Blue</a:t>
            </a:r>
            <a:r>
              <a:rPr lang="en" sz="1100">
                <a:solidFill>
                  <a:schemeClr val="dk1"/>
                </a:solidFill>
              </a:rPr>
              <a:t>: (0, 0, 255)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White</a:t>
            </a:r>
            <a:r>
              <a:rPr lang="en" sz="1100">
                <a:solidFill>
                  <a:schemeClr val="dk1"/>
                </a:solidFill>
              </a:rPr>
              <a:t>: (255, 255, 255)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Black</a:t>
            </a:r>
            <a:r>
              <a:rPr lang="en" sz="1100">
                <a:solidFill>
                  <a:schemeClr val="dk1"/>
                </a:solidFill>
              </a:rPr>
              <a:t>: (0, 0, 0)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Gray Scale : black &amp; white : 1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Resolution : 1080*1080 pixels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Image</a:t>
            </a:r>
            <a:r>
              <a:rPr lang="en" sz="1200"/>
              <a:t>:width*height*channels(3: RGB , 1: Gray Scale)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5*10*3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Video</a:t>
            </a:r>
            <a:r>
              <a:rPr lang="en" sz="1200"/>
              <a:t>: collections of image frame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7mb= 7000000*7000000*3= 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Fps: Frames per second 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0850" y="750500"/>
            <a:ext cx="4578475" cy="253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145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88"/>
              <a:t>Image Processing (OpenCV)</a:t>
            </a:r>
            <a:endParaRPr sz="1588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523500"/>
            <a:ext cx="8520600" cy="43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1. Basic Image Operations</a:t>
            </a:r>
            <a:endParaRPr b="1"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Loading and Displaying Images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cv2.imread()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cv2.imshow()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cv2.imwrite()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Resizing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cv2.resize()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Rotating and Flipping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cv2.rotate()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cv2.flip()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Cropping</a:t>
            </a:r>
            <a:r>
              <a:rPr lang="en" sz="1100">
                <a:solidFill>
                  <a:schemeClr val="dk1"/>
                </a:solidFill>
              </a:rPr>
              <a:t>: Selecting a region of interest (ROI) using array slicing.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2. Color Space Conversions</a:t>
            </a:r>
            <a:endParaRPr b="1"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Grayscale Conversion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cv2.cvtColor(image, cv2.COLOR_BGR2GRAY)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HSV, LAB, and YCrCb Color Spaces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cv2.cvtColor(image, cv2.COLOR_BGR2HSV)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cv2.cvtColor(image, cv2.COLOR_BGR2LAB)</a:t>
            </a:r>
            <a:r>
              <a:rPr lang="en" sz="1100">
                <a:solidFill>
                  <a:schemeClr val="dk1"/>
                </a:solidFill>
              </a:rPr>
              <a:t>, etc.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Splitting and Merging Channels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cv2.split()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cv2.merge()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3. Image Filtering and Smoothing</a:t>
            </a:r>
            <a:endParaRPr b="1"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Blurring (Averaging)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cv2.blur(image, (k, k))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Gaussian Blurring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cv2.GaussianBlur(image, (k, k), sigmaX)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Median Blurring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cv2.medianBlur(image, k)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Bilateral Filtering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cv2.bilateralFilter(image, d, sigmaColor, sigmaSpace)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4. Thresholding( convert into grayscale by threshold)</a:t>
            </a:r>
            <a:endParaRPr b="1"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Simple Thresholding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cv2.threshold(image, thresh, maxVal, type)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Adaptive Thresholding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cv2.adaptiveThreshold(image, maxVal, adaptiveMethod, thresholdType, blockSize, C)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Otsu’s Binarization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cv2.threshold(image, 0, 255, cv2.THRESH_BINARY + cv2.THRESH_OTSU)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203875"/>
            <a:ext cx="8696400" cy="47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5. Edge Detection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Canny Edge Detection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cv2.Canny(image, threshold1, threshold2)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Sobel and Scharr Derivatives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cv2.Sobel(image, ddepth, dx, dy, ksize)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Laplacian Operator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cv2.Laplacian(image, ddepth)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6. Morphological Operations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Erosion and Dilation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cv2.erode()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cv2.dilate()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Opening and Closing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cv2.morphologyEx(image, cv2.MORPH_OPEN, kernel)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cv2.morphologyEx(image, cv2.MORPH_CLOSE, kernel)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Gradient, Top Hat, and Black Hat Transformations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cv2.morphologyEx(image, type, kernel)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7. Image Transformation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Affine Transformations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cv2.warpAffine(image, M, (cols, rows))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Perspective Transformations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cv2.getPerspectiveTransform(pts1, pts2)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cv2.warpPerspective(image, M, (cols, rows))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Translation and Scaling</a:t>
            </a:r>
            <a:r>
              <a:rPr lang="en" sz="1100">
                <a:solidFill>
                  <a:schemeClr val="dk1"/>
                </a:solidFill>
              </a:rPr>
              <a:t>: Using transformation matrices for translation or scaling.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8. Contour Detection and Analysis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Finding Contours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cv2.findContours()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Drawing Contours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cv2.drawContours()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Contour Properties</a:t>
            </a:r>
            <a:r>
              <a:rPr lang="en" sz="1100">
                <a:solidFill>
                  <a:schemeClr val="dk1"/>
                </a:solidFill>
              </a:rPr>
              <a:t>: Area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cv2.contourArea()</a:t>
            </a:r>
            <a:r>
              <a:rPr lang="en" sz="1100">
                <a:solidFill>
                  <a:schemeClr val="dk1"/>
                </a:solidFill>
              </a:rPr>
              <a:t>), Perimeter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cv2.arcLength()</a:t>
            </a:r>
            <a:r>
              <a:rPr lang="en" sz="1100">
                <a:solidFill>
                  <a:schemeClr val="dk1"/>
                </a:solidFill>
              </a:rPr>
              <a:t>), Moments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cv2.moments()</a:t>
            </a:r>
            <a:r>
              <a:rPr lang="en" sz="1100">
                <a:solidFill>
                  <a:schemeClr val="dk1"/>
                </a:solidFill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448800"/>
            <a:ext cx="8520600" cy="45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9. Image Histogram Analysis</a:t>
            </a:r>
            <a:endParaRPr b="1"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Calculating Histograms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cv2.calcHist()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Histogram Equalization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cv2.equalizeHist()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CLAHE (Contrast Limited Adaptive Histogram Equalization)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cv2.createCLAHE()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10. Feature Detection and Matching</a:t>
            </a:r>
            <a:endParaRPr b="1"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Keypoint Detection</a:t>
            </a:r>
            <a:r>
              <a:rPr lang="en" sz="1100">
                <a:solidFill>
                  <a:schemeClr val="dk1"/>
                </a:solidFill>
              </a:rPr>
              <a:t>: SIFT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cv2.SIFT_create()</a:t>
            </a:r>
            <a:r>
              <a:rPr lang="en" sz="1100">
                <a:solidFill>
                  <a:schemeClr val="dk1"/>
                </a:solidFill>
              </a:rPr>
              <a:t>), SURF, ORB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cv2.ORB_create()</a:t>
            </a:r>
            <a:r>
              <a:rPr lang="en" sz="1100">
                <a:solidFill>
                  <a:schemeClr val="dk1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Feature Matching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cv2.BFMatcher()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cv2.FlannBasedMatcher()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Template Matching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cv2.matchTemplate(image, template, method)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11. Object Detection</a:t>
            </a:r>
            <a:endParaRPr b="1"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Haar Cascade Classifier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cv2.CascadeClassifier()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Background Subtraction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cv2.createBackgroundSubtractorMOG2()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cv2.createBackgroundSubtractorKNN()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12. Image Segmentation</a:t>
            </a:r>
            <a:endParaRPr b="1"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Watershed Algorithm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cv2.watershed()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GrabCut Algorithm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cv2.grabCut()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K-Means Clustering for Segmentation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cv2.kmeans()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13. Geometric Transformations and Affine Transformations</a:t>
            </a:r>
            <a:endParaRPr b="1"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Rotation, Scaling, and Shearing</a:t>
            </a:r>
            <a:r>
              <a:rPr lang="en" sz="1100">
                <a:solidFill>
                  <a:schemeClr val="dk1"/>
                </a:solidFill>
              </a:rPr>
              <a:t>: Using affine transformation matrices.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1100">
                <a:solidFill>
                  <a:schemeClr val="dk1"/>
                </a:solidFill>
              </a:rPr>
              <a:t>Perspective Transform</a:t>
            </a:r>
            <a:r>
              <a:rPr lang="en" sz="1100">
                <a:solidFill>
                  <a:schemeClr val="dk1"/>
                </a:solidFill>
              </a:rPr>
              <a:t>: Warping images using points.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311700" y="972200"/>
            <a:ext cx="8520600" cy="35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14. Drawing Shapes and Text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Draw Basic Shapes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cv2.line()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cv2.rectangle()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cv2.circle()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cv2.ellipse()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Draw Polygons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cv2.polylines()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Adding Text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cv2.putText(image, text, position, font, fontScale, color, thickness)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15. Image Blending and Masking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Blending</a:t>
            </a:r>
            <a:r>
              <a:rPr lang="en" sz="1100">
                <a:solidFill>
                  <a:schemeClr val="dk1"/>
                </a:solidFill>
              </a:rPr>
              <a:t>: Combining images with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cv2.addWeighted()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Masking</a:t>
            </a:r>
            <a:r>
              <a:rPr lang="en" sz="1100">
                <a:solidFill>
                  <a:schemeClr val="dk1"/>
                </a:solidFill>
              </a:rPr>
              <a:t>: Using binary masks to apply operations selectively.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CNN for Images </a:t>
            </a:r>
            <a:endParaRPr/>
          </a:p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ANN will take huge amount of time to process due to matrix multiplication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Overfitting issue in ANN for Images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Spatial feature loss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1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CNN (Convolutional neural networks) : convolve </a:t>
            </a:r>
            <a:endParaRPr sz="2020"/>
          </a:p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11700" y="1152475"/>
            <a:ext cx="8520600" cy="3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https://poloclub.github.io/cnn-explainer/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https://deeplizard.com/resource/pavq7noze2</a:t>
            </a:r>
            <a:endParaRPr/>
          </a:p>
        </p:txBody>
      </p:sp>
      <p:pic>
        <p:nvPicPr>
          <p:cNvPr id="102" name="Google Shape;10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875" y="526300"/>
            <a:ext cx="8244975" cy="379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11700" y="365600"/>
            <a:ext cx="8520600" cy="45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Convolutional Layer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Purpose</a:t>
            </a:r>
            <a:r>
              <a:rPr lang="en" sz="1100">
                <a:solidFill>
                  <a:schemeClr val="dk1"/>
                </a:solidFill>
              </a:rPr>
              <a:t>: The core layer of CNNs, convolutional layers apply filters (kernels) to the input image or feature maps to detect local features, such as edges, textures, and patterns.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Operation</a:t>
            </a:r>
            <a:r>
              <a:rPr lang="en" sz="1100">
                <a:solidFill>
                  <a:schemeClr val="dk1"/>
                </a:solidFill>
              </a:rPr>
              <a:t>: Each filter slides over the input data, performing a dot product to produce feature maps.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Parameters</a:t>
            </a:r>
            <a:r>
              <a:rPr lang="en" sz="1100">
                <a:solidFill>
                  <a:schemeClr val="dk1"/>
                </a:solidFill>
              </a:rPr>
              <a:t>: Number of filters (kernels), kernel size, stride (step size of the filter movement), and padding (adding pixels around the input image to control output size).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input of size W x W x D </a:t>
            </a:r>
            <a:endParaRPr sz="1300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F: filter/kernel size  </a:t>
            </a:r>
            <a:endParaRPr sz="1300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P: Padding</a:t>
            </a:r>
            <a:endParaRPr sz="1300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42424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S: Stride            28*28*3……w=28, f=3, P=2, s: 2…….wout : 15 </a:t>
            </a:r>
            <a:endParaRPr sz="1300">
              <a:solidFill>
                <a:srgbClr val="242424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Activation </a:t>
            </a:r>
            <a:r>
              <a:rPr b="1" lang="en" sz="1300">
                <a:solidFill>
                  <a:schemeClr val="dk1"/>
                </a:solidFill>
              </a:rPr>
              <a:t>Layer (ReLU)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Purpose</a:t>
            </a:r>
            <a:r>
              <a:rPr lang="en" sz="1100">
                <a:solidFill>
                  <a:schemeClr val="dk1"/>
                </a:solidFill>
              </a:rPr>
              <a:t>: Activation functions introduce non-linearity to allow the model to learn complex patterns.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Common Activation</a:t>
            </a:r>
            <a:r>
              <a:rPr lang="en" sz="1100">
                <a:solidFill>
                  <a:schemeClr val="dk1"/>
                </a:solidFill>
              </a:rPr>
              <a:t>: Rectified Linear Unit (ReLU), defined as f(x)=max⁡(0,x)f(x) = \max(0, x)f(x)=max(0,x).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Effect</a:t>
            </a:r>
            <a:r>
              <a:rPr lang="en" sz="1100">
                <a:solidFill>
                  <a:schemeClr val="dk1"/>
                </a:solidFill>
              </a:rPr>
              <a:t>: ReLU zeroes out all negative values in the feature map, which helps prevent issues like vanishing gradients and accelerates training.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8" name="Google Shape;1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2450" y="1869600"/>
            <a:ext cx="4221176" cy="111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311700" y="365600"/>
            <a:ext cx="8520600" cy="45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Pooling Layer (Downsampling)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Purpose</a:t>
            </a:r>
            <a:r>
              <a:rPr lang="en" sz="1100">
                <a:solidFill>
                  <a:schemeClr val="dk1"/>
                </a:solidFill>
              </a:rPr>
              <a:t>: Pooling layers reduce the spatial dimensions of feature maps, which reduces the computational load and helps make the model more robust to small translations or distortions in the image.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Types of Pooling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Max Pooling</a:t>
            </a:r>
            <a:r>
              <a:rPr lang="en" sz="1100">
                <a:solidFill>
                  <a:schemeClr val="dk1"/>
                </a:solidFill>
              </a:rPr>
              <a:t>: Takes the maximum value from each window, commonly used as it retains the strongest features.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Average Pooling</a:t>
            </a:r>
            <a:r>
              <a:rPr lang="en" sz="1100">
                <a:solidFill>
                  <a:schemeClr val="dk1"/>
                </a:solidFill>
              </a:rPr>
              <a:t>: Averages values in each window, used less frequently in CNNs.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Example</a:t>
            </a:r>
            <a:r>
              <a:rPr lang="en" sz="1100">
                <a:solidFill>
                  <a:schemeClr val="dk1"/>
                </a:solidFill>
              </a:rPr>
              <a:t>: A 2x2 max pooling with stride 2 reduces the dimension of a 4x4 feature map to 2x2 by selecting the max value in each 2x2 window.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Fully Connected (Dense) Layer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Purpose</a:t>
            </a:r>
            <a:r>
              <a:rPr lang="en" sz="1100">
                <a:solidFill>
                  <a:schemeClr val="dk1"/>
                </a:solidFill>
              </a:rPr>
              <a:t>: The fully connected layer is usually found at the end of a CNN architecture. It combines all the features learned in previous layers to make final predictions or classifications.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How it Works</a:t>
            </a:r>
            <a:r>
              <a:rPr lang="en" sz="1100">
                <a:solidFill>
                  <a:schemeClr val="dk1"/>
                </a:solidFill>
              </a:rPr>
              <a:t>: The output from the last pooling or convolutional layer is flattened into a 1D vector, then fed into one or more fully connected layers. Each neuron in a fully connected layer is connected to every neuron in the previous layer, allowing the network to learn complex associations.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Example</a:t>
            </a:r>
            <a:r>
              <a:rPr lang="en" sz="1100">
                <a:solidFill>
                  <a:schemeClr val="dk1"/>
                </a:solidFill>
              </a:rPr>
              <a:t>: In a CNN that classifies images, the last fully connected layer might have as many neurons as there are classes in the dataset, each producing a probability for each class (usually achieved using a softmax activation).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" type="body"/>
          </p:nvPr>
        </p:nvSpPr>
        <p:spPr>
          <a:xfrm>
            <a:off x="311700" y="382225"/>
            <a:ext cx="8520600" cy="45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Softmax Layer (Output Layer)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Purpose</a:t>
            </a:r>
            <a:r>
              <a:rPr lang="en" sz="1100">
                <a:solidFill>
                  <a:schemeClr val="dk1"/>
                </a:solidFill>
              </a:rPr>
              <a:t>: For classification problems, the softmax layer is typically the last layer, as it converts the network's final scores (logits) into probabilities.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Effect</a:t>
            </a:r>
            <a:r>
              <a:rPr lang="en" sz="1100">
                <a:solidFill>
                  <a:schemeClr val="dk1"/>
                </a:solidFill>
              </a:rPr>
              <a:t>: It outputs a probability distribution for each class, making it suitable for multi-class classification.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Example</a:t>
            </a:r>
            <a:r>
              <a:rPr lang="en" sz="1100">
                <a:solidFill>
                  <a:schemeClr val="dk1"/>
                </a:solidFill>
              </a:rPr>
              <a:t>: A softmax layer for an image classification problem with 10 classes will produce a vector of 10 probabilities that sum up to 1.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Normalization Layer (Batch Normalization)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Purpose</a:t>
            </a:r>
            <a:r>
              <a:rPr lang="en" sz="1100">
                <a:solidFill>
                  <a:schemeClr val="dk1"/>
                </a:solidFill>
              </a:rPr>
              <a:t>: Batch normalization standardizes the outputs of a layer to improve training stability and speed.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How it Works</a:t>
            </a:r>
            <a:r>
              <a:rPr lang="en" sz="1100">
                <a:solidFill>
                  <a:schemeClr val="dk1"/>
                </a:solidFill>
              </a:rPr>
              <a:t>: It normalizes each feature map based on the mini-batch’s mean and variance, making the training process faster and helping prevent issues like vanishing or exploding gradients.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Example</a:t>
            </a:r>
            <a:r>
              <a:rPr lang="en" sz="1100">
                <a:solidFill>
                  <a:schemeClr val="dk1"/>
                </a:solidFill>
              </a:rPr>
              <a:t>: In practice, batch normalization is often added after convolutional layers, before the activation function, to keep activations within a stable range and enable faster convergence.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Dropout Layer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Purpose</a:t>
            </a:r>
            <a:r>
              <a:rPr lang="en" sz="1100">
                <a:solidFill>
                  <a:schemeClr val="dk1"/>
                </a:solidFill>
              </a:rPr>
              <a:t>: Dropout is a regularization technique used to prevent overfitting by randomly "dropping out" (setting to zero) a percentage of neurons during training.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Effect</a:t>
            </a:r>
            <a:r>
              <a:rPr lang="en" sz="1100">
                <a:solidFill>
                  <a:schemeClr val="dk1"/>
                </a:solidFill>
              </a:rPr>
              <a:t>: This layer encourages the network to learn more robust and generalizable features, as it forces the model not to rely on any single neuron.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Example</a:t>
            </a:r>
            <a:r>
              <a:rPr lang="en" sz="1100">
                <a:solidFill>
                  <a:schemeClr val="dk1"/>
                </a:solidFill>
              </a:rPr>
              <a:t>: A dropout rate of 0.5 means half of the neurons are randomly deactivated in each forward pass.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type="title"/>
          </p:nvPr>
        </p:nvSpPr>
        <p:spPr>
          <a:xfrm>
            <a:off x="311700" y="212350"/>
            <a:ext cx="8520600" cy="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4395"/>
              <a:buNone/>
            </a:pPr>
            <a:r>
              <a:rPr lang="en" sz="1820"/>
              <a:t>CV Model/Networks</a:t>
            </a:r>
            <a:endParaRPr sz="1820"/>
          </a:p>
        </p:txBody>
      </p:sp>
      <p:sp>
        <p:nvSpPr>
          <p:cNvPr id="124" name="Google Shape;124;p25"/>
          <p:cNvSpPr txBox="1"/>
          <p:nvPr>
            <p:ph idx="1" type="body"/>
          </p:nvPr>
        </p:nvSpPr>
        <p:spPr>
          <a:xfrm>
            <a:off x="311700" y="573350"/>
            <a:ext cx="8520600" cy="45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1. LeNet (1998)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Overview</a:t>
            </a:r>
            <a:r>
              <a:rPr lang="en" sz="1300">
                <a:solidFill>
                  <a:schemeClr val="dk1"/>
                </a:solidFill>
              </a:rPr>
              <a:t>: LeNet-5 was one of the first CNNs used for digit classification (e.g., MNIST).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Pros</a:t>
            </a:r>
            <a:r>
              <a:rPr lang="en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Efficient and effective for small-scale image classification tasks.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Pioneered convolutional layers, max pooling, and fully connected layers.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Cons</a:t>
            </a:r>
            <a:r>
              <a:rPr lang="en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Too simplistic for complex tasks like object detection or high-resolution image classification.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How it Works</a:t>
            </a:r>
            <a:r>
              <a:rPr lang="en" sz="1300">
                <a:solidFill>
                  <a:schemeClr val="dk1"/>
                </a:solidFill>
              </a:rPr>
              <a:t>: Uses two convolutional layers followed by pooling and fully connected layers.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74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tensorflow.keras import datasets, layers, models</a:t>
            </a:r>
            <a:endParaRPr sz="774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74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 = models.Sequential([</a:t>
            </a:r>
            <a:endParaRPr sz="774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74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layers.Conv2D(6, (5, 5), activation='relu', input_shape=(32, 32, 1)),</a:t>
            </a:r>
            <a:endParaRPr sz="774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74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layers.AvgPool2D(),</a:t>
            </a:r>
            <a:endParaRPr sz="774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74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layers.Conv2D(16, (5, 5), activation='relu'),</a:t>
            </a:r>
            <a:endParaRPr sz="774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74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layers.AvgPool2D(),</a:t>
            </a:r>
            <a:endParaRPr sz="774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74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layers.Flatten(),</a:t>
            </a:r>
            <a:endParaRPr sz="774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74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layers.Dense(120, activation='relu'),</a:t>
            </a:r>
            <a:endParaRPr sz="774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74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layers.Dense(84, activation='relu'),</a:t>
            </a:r>
            <a:endParaRPr sz="774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774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layers.Dense(10, activation='softmax</a:t>
            </a:r>
            <a:endParaRPr sz="1474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>
            <p:ph idx="1" type="body"/>
          </p:nvPr>
        </p:nvSpPr>
        <p:spPr>
          <a:xfrm>
            <a:off x="311700" y="714600"/>
            <a:ext cx="8520600" cy="41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2. AlexNet (2012)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Overview</a:t>
            </a:r>
            <a:r>
              <a:rPr lang="en" sz="1300">
                <a:solidFill>
                  <a:schemeClr val="dk1"/>
                </a:solidFill>
              </a:rPr>
              <a:t>: A breakthrough model that won the ImageNet competition with a large margin.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Pros</a:t>
            </a:r>
            <a:r>
              <a:rPr lang="en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First model to utilize ReLU activations and dropout for regularization.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Successfully demonstrated the power of deep CNNs with GPUs.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Cons</a:t>
            </a:r>
            <a:r>
              <a:rPr lang="en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High computational cost due to the model’s size and fully connected layers.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How it Works</a:t>
            </a:r>
            <a:r>
              <a:rPr lang="en" sz="1300">
                <a:solidFill>
                  <a:schemeClr val="dk1"/>
                </a:solidFill>
              </a:rPr>
              <a:t>: Uses five convolutional layers followed by max pooling and three fully connected layers.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tensorflow.keras.applications import AlexNet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 = AlexNet(weights='imagenet')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Note : Add Architecture, Github page/ paper</a:t>
            </a:r>
            <a:endParaRPr b="1" sz="11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/>
          <p:nvPr>
            <p:ph idx="1" type="body"/>
          </p:nvPr>
        </p:nvSpPr>
        <p:spPr>
          <a:xfrm>
            <a:off x="311700" y="472650"/>
            <a:ext cx="8520600" cy="40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VGG (2014)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Overview</a:t>
            </a:r>
            <a:r>
              <a:rPr lang="en" sz="1300">
                <a:solidFill>
                  <a:schemeClr val="dk1"/>
                </a:solidFill>
              </a:rPr>
              <a:t>: A deep network that introduced smaller filters (3x3) but used a deeper structure.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Pros</a:t>
            </a:r>
            <a:r>
              <a:rPr lang="en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Easy to generalize and transfer to other tasks.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Standardized use of 3x3 convolutions is effective.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Cons</a:t>
            </a:r>
            <a:r>
              <a:rPr lang="en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High computational and memory requirements.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How it Works</a:t>
            </a:r>
            <a:r>
              <a:rPr lang="en" sz="1300">
                <a:solidFill>
                  <a:schemeClr val="dk1"/>
                </a:solidFill>
              </a:rPr>
              <a:t>: Sequential layers with 3x3 filters, followed by max pooling and dense layers.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highlight>
                <a:srgbClr val="9FC5E8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9FC5E8"/>
                </a:highlight>
              </a:rPr>
              <a:t>from tensorflow.keras.applications import VGG16</a:t>
            </a:r>
            <a:endParaRPr sz="1300">
              <a:solidFill>
                <a:schemeClr val="dk1"/>
              </a:solidFill>
              <a:highlight>
                <a:srgbClr val="9FC5E8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highlight>
                  <a:srgbClr val="9FC5E8"/>
                </a:highlight>
              </a:rPr>
              <a:t>model = VGG16(weights='imagenet')</a:t>
            </a:r>
            <a:endParaRPr sz="1300">
              <a:solidFill>
                <a:schemeClr val="dk1"/>
              </a:solidFill>
              <a:highlight>
                <a:srgbClr val="9FC5E8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 txBox="1"/>
          <p:nvPr>
            <p:ph idx="1" type="body"/>
          </p:nvPr>
        </p:nvSpPr>
        <p:spPr>
          <a:xfrm>
            <a:off x="311700" y="695075"/>
            <a:ext cx="8520600" cy="38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GoogLeNet / Inception (2014)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Overview</a:t>
            </a:r>
            <a:r>
              <a:rPr lang="en" sz="1400">
                <a:solidFill>
                  <a:schemeClr val="dk1"/>
                </a:solidFill>
              </a:rPr>
              <a:t>: Known for the "Inception module," which used multiple filter sizes for each layer.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Pros</a:t>
            </a:r>
            <a:r>
              <a:rPr lang="en" sz="1400">
                <a:solidFill>
                  <a:schemeClr val="dk1"/>
                </a:solidFill>
              </a:rPr>
              <a:t>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Efficient due to the combination of different-sized filters.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Less computation compared to VGG while maintaining accuracy.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Cons</a:t>
            </a:r>
            <a:r>
              <a:rPr lang="en" sz="1400">
                <a:solidFill>
                  <a:schemeClr val="dk1"/>
                </a:solidFill>
              </a:rPr>
              <a:t>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Complex structure makes it challenging to modify.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How it Works</a:t>
            </a:r>
            <a:r>
              <a:rPr lang="en" sz="1400">
                <a:solidFill>
                  <a:schemeClr val="dk1"/>
                </a:solidFill>
              </a:rPr>
              <a:t>: Inception modules use 1x1, 3x3, and 5x5 convolutions in parallel.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A4C2F4"/>
                </a:highlight>
              </a:rPr>
              <a:t>from tensorflow.keras.applications import InceptionV3</a:t>
            </a:r>
            <a:endParaRPr sz="1400">
              <a:solidFill>
                <a:schemeClr val="dk1"/>
              </a:solidFill>
              <a:highlight>
                <a:srgbClr val="A4C2F4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A4C2F4"/>
                </a:highlight>
              </a:rPr>
              <a:t>model = InceptionV3(weights='imagenet')</a:t>
            </a:r>
            <a:endParaRPr sz="1400">
              <a:solidFill>
                <a:schemeClr val="dk1"/>
              </a:solidFill>
              <a:highlight>
                <a:srgbClr val="A4C2F4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9"/>
          <p:cNvSpPr txBox="1"/>
          <p:nvPr>
            <p:ph idx="1" type="body"/>
          </p:nvPr>
        </p:nvSpPr>
        <p:spPr>
          <a:xfrm>
            <a:off x="311700" y="509725"/>
            <a:ext cx="8520600" cy="4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ResNet (2015)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Overview</a:t>
            </a:r>
            <a:r>
              <a:rPr lang="en" sz="1300">
                <a:solidFill>
                  <a:schemeClr val="dk1"/>
                </a:solidFill>
              </a:rPr>
              <a:t>: ResNet introduced residual connections, solving the vanishing gradient problem.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Pros</a:t>
            </a:r>
            <a:r>
              <a:rPr lang="en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Very deep networks (e.g., ResNet-50, ResNet-152) are feasible due to skip connections.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Excellent for transfer learning.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Cons</a:t>
            </a:r>
            <a:r>
              <a:rPr lang="en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Large model size.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How it Works</a:t>
            </a:r>
            <a:r>
              <a:rPr lang="en" sz="1300">
                <a:solidFill>
                  <a:schemeClr val="dk1"/>
                </a:solidFill>
              </a:rPr>
              <a:t>: Adds "skip connections" to allow gradients to flow through the network more easily.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Code</a:t>
            </a:r>
            <a:r>
              <a:rPr lang="en" sz="1300">
                <a:solidFill>
                  <a:schemeClr val="dk1"/>
                </a:solidFill>
              </a:rPr>
              <a:t>:</a:t>
            </a:r>
            <a:br>
              <a:rPr lang="en" sz="1300">
                <a:solidFill>
                  <a:schemeClr val="dk1"/>
                </a:solidFill>
              </a:rPr>
            </a:b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tensorflow.keras.applications import ResNet50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 = ResNet50(weights='imagenet')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0"/>
          <p:cNvSpPr txBox="1"/>
          <p:nvPr>
            <p:ph idx="1" type="body"/>
          </p:nvPr>
        </p:nvSpPr>
        <p:spPr>
          <a:xfrm>
            <a:off x="311700" y="407775"/>
            <a:ext cx="8520600" cy="41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DenseNet (2016)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Overview</a:t>
            </a:r>
            <a:r>
              <a:rPr lang="en" sz="1100">
                <a:solidFill>
                  <a:schemeClr val="dk1"/>
                </a:solidFill>
              </a:rPr>
              <a:t>: DenseNet connects each layer to every other layer in a feed-forward manner.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Pros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Encourages feature reuse, leading to parameter efficiency.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Cons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High memory usage.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How it Works</a:t>
            </a:r>
            <a:r>
              <a:rPr lang="en" sz="1100">
                <a:solidFill>
                  <a:schemeClr val="dk1"/>
                </a:solidFill>
              </a:rPr>
              <a:t>: Dense connections concatenate outputs of previous layers rather than summing.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Code</a:t>
            </a:r>
            <a:r>
              <a:rPr lang="en" sz="1100">
                <a:solidFill>
                  <a:schemeClr val="dk1"/>
                </a:solidFill>
              </a:rPr>
              <a:t>:</a:t>
            </a:r>
            <a:br>
              <a:rPr lang="en" sz="1100">
                <a:solidFill>
                  <a:schemeClr val="dk1"/>
                </a:solidFill>
              </a:rPr>
            </a:b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tensorflow.keras.applications import DenseNet121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 = DenseNet121(weights='imagenet')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1"/>
          <p:cNvSpPr txBox="1"/>
          <p:nvPr>
            <p:ph idx="1" type="body"/>
          </p:nvPr>
        </p:nvSpPr>
        <p:spPr>
          <a:xfrm>
            <a:off x="311700" y="528250"/>
            <a:ext cx="8520600" cy="40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MobileNet (2017)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Overview</a:t>
            </a:r>
            <a:r>
              <a:rPr lang="en" sz="1100">
                <a:solidFill>
                  <a:schemeClr val="dk1"/>
                </a:solidFill>
              </a:rPr>
              <a:t>: Designed for mobile and edge devices with low computational requirements.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Pros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Lightweight and efficient.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Optimized for mobile devices.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Cons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Lower accuracy compared to heavier models.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How it Works</a:t>
            </a:r>
            <a:r>
              <a:rPr lang="en" sz="1100">
                <a:solidFill>
                  <a:schemeClr val="dk1"/>
                </a:solidFill>
              </a:rPr>
              <a:t>: Uses depthwise separable convolutions to reduce computations.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Code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tensorflow.keras.applications import MobileNetV2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 = MobileNetV2(weights='imagenet')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EfficientNet (2019)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Overview</a:t>
            </a:r>
            <a:r>
              <a:rPr lang="en" sz="1100">
                <a:solidFill>
                  <a:schemeClr val="dk1"/>
                </a:solidFill>
              </a:rPr>
              <a:t>: A family of models scaling depth, width, and resolution to achieve high efficiency.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Pros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Optimized for both speed and accuracy.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Cons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Can be complex to customize.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How it Works</a:t>
            </a:r>
            <a:r>
              <a:rPr lang="en" sz="1100">
                <a:solidFill>
                  <a:schemeClr val="dk1"/>
                </a:solidFill>
              </a:rPr>
              <a:t>: Uses compound scaling to balance model size and accuracy.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Code</a:t>
            </a:r>
            <a:r>
              <a:rPr lang="en" sz="1100">
                <a:solidFill>
                  <a:schemeClr val="dk1"/>
                </a:solidFill>
              </a:rPr>
              <a:t>:</a:t>
            </a:r>
            <a:br>
              <a:rPr lang="en" sz="1100">
                <a:solidFill>
                  <a:schemeClr val="dk1"/>
                </a:solidFill>
              </a:rPr>
            </a:b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tensorflow.keras.applications import EfficientNetB0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 = EfficientNetB0(weights='imagenet')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3"/>
          <p:cNvSpPr txBox="1"/>
          <p:nvPr>
            <p:ph idx="1" type="body"/>
          </p:nvPr>
        </p:nvSpPr>
        <p:spPr>
          <a:xfrm>
            <a:off x="311700" y="426300"/>
            <a:ext cx="8520600" cy="41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YOLO (You Only Look Once) - (2016)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Overview</a:t>
            </a:r>
            <a:r>
              <a:rPr lang="en" sz="1100">
                <a:solidFill>
                  <a:schemeClr val="dk1"/>
                </a:solidFill>
              </a:rPr>
              <a:t>: Real-time object detection model that predicts bounding boxes and class probabilities.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Pros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Extremely fast and efficient for real-time applications.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Cons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May struggle with small object detection.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How it Works</a:t>
            </a:r>
            <a:r>
              <a:rPr lang="en" sz="1100">
                <a:solidFill>
                  <a:schemeClr val="dk1"/>
                </a:solidFill>
              </a:rPr>
              <a:t>: Divides the image into grids and predicts bounding boxes and class labels in a single pass.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Code</a:t>
            </a:r>
            <a:r>
              <a:rPr lang="en" sz="1100">
                <a:solidFill>
                  <a:schemeClr val="dk1"/>
                </a:solidFill>
              </a:rPr>
              <a:t>: (Using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yolov5</a:t>
            </a:r>
            <a:r>
              <a:rPr lang="en" sz="1100">
                <a:solidFill>
                  <a:schemeClr val="dk1"/>
                </a:solidFill>
              </a:rPr>
              <a:t> PyTorch package)</a:t>
            </a:r>
            <a:br>
              <a:rPr lang="en" sz="1100">
                <a:solidFill>
                  <a:schemeClr val="dk1"/>
                </a:solidFill>
              </a:rPr>
            </a:b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torch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 = torch.hub.load('ultralytics/yolov5', 'yolov5s')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results = model('path/to/image.jpg')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results.show()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4"/>
          <p:cNvSpPr txBox="1"/>
          <p:nvPr>
            <p:ph type="title"/>
          </p:nvPr>
        </p:nvSpPr>
        <p:spPr>
          <a:xfrm>
            <a:off x="2168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20"/>
              <a:t>CV Task</a:t>
            </a:r>
            <a:endParaRPr sz="1920"/>
          </a:p>
        </p:txBody>
      </p:sp>
      <p:sp>
        <p:nvSpPr>
          <p:cNvPr id="170" name="Google Shape;170;p34"/>
          <p:cNvSpPr txBox="1"/>
          <p:nvPr>
            <p:ph idx="1" type="body"/>
          </p:nvPr>
        </p:nvSpPr>
        <p:spPr>
          <a:xfrm>
            <a:off x="311700" y="510700"/>
            <a:ext cx="8520600" cy="40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https://playground.roboflow.com/classification</a:t>
            </a:r>
            <a:endParaRPr sz="1400"/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1. Image Classification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Predict one label for an image.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Real-life examples:</a:t>
            </a:r>
            <a:endParaRPr b="1"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Classify fruits (apple, banana, orange)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Classify damaged vs. non-damaged products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Classify animal species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Fake vs. real currency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5"/>
          <p:cNvSpPr txBox="1"/>
          <p:nvPr>
            <p:ph idx="1" type="body"/>
          </p:nvPr>
        </p:nvSpPr>
        <p:spPr>
          <a:xfrm>
            <a:off x="311700" y="116725"/>
            <a:ext cx="8520600" cy="44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2. Object Detection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Locate and classify multiple objects in the image.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Real-life examples: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Detect people, cars, helmets in CCTV footage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Number plate detection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Detect cracks on roads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Detect shop items using a camera in retail stores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6"/>
          <p:cNvSpPr txBox="1"/>
          <p:nvPr>
            <p:ph idx="1" type="body"/>
          </p:nvPr>
        </p:nvSpPr>
        <p:spPr>
          <a:xfrm>
            <a:off x="311700" y="145925"/>
            <a:ext cx="8520600" cy="44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Face Detection &amp; Recognition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Identify faces or verify a person.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Real-life examples: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Attendance systems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Access control with face recognition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Customer demographics analysis in malls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Face spoofing detection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FaceNet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DeepFace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ArcFace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InsightFace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dlib face embeddings</a:t>
            </a:r>
            <a:endParaRPr sz="1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 txBox="1"/>
          <p:nvPr>
            <p:ph idx="1" type="body"/>
          </p:nvPr>
        </p:nvSpPr>
        <p:spPr>
          <a:xfrm>
            <a:off x="0" y="125"/>
            <a:ext cx="88323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OCR (Optical Character Recognition)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Extract text from images.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Real-life examples:</a:t>
            </a:r>
            <a:endParaRPr b="1" sz="1200">
              <a:solidFill>
                <a:schemeClr val="dk1"/>
              </a:solidFill>
            </a:endParaRPr>
          </a:p>
          <a:p>
            <a:pPr indent="-27781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000">
                <a:solidFill>
                  <a:schemeClr val="dk1"/>
                </a:solidFill>
              </a:rPr>
              <a:t>Reading electricity/water meter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778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000">
                <a:solidFill>
                  <a:schemeClr val="dk1"/>
                </a:solidFill>
              </a:rPr>
              <a:t>Reading number plates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778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000">
                <a:solidFill>
                  <a:schemeClr val="dk1"/>
                </a:solidFill>
              </a:rPr>
              <a:t>Extracting text from invoices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Char char="●"/>
            </a:pPr>
            <a:r>
              <a:rPr lang="en" sz="1000">
                <a:solidFill>
                  <a:schemeClr val="dk1"/>
                </a:solidFill>
              </a:rPr>
              <a:t>Bank cheque reading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Tesseract OCR</a:t>
            </a:r>
            <a:r>
              <a:rPr lang="en" sz="1100">
                <a:solidFill>
                  <a:schemeClr val="dk1"/>
                </a:solidFill>
              </a:rPr>
              <a:t> – Traditional rule-based OCR for printed text extraction.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EasyOCR</a:t>
            </a:r>
            <a:r>
              <a:rPr lang="en" sz="1100">
                <a:solidFill>
                  <a:schemeClr val="dk1"/>
                </a:solidFill>
              </a:rPr>
              <a:t> – Deep learning OCR supporting 80+ languages for printed &amp; handwritten text.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PaddleOCR</a:t>
            </a:r>
            <a:r>
              <a:rPr lang="en" sz="1100">
                <a:solidFill>
                  <a:schemeClr val="dk1"/>
                </a:solidFill>
              </a:rPr>
              <a:t> – High-accuracy OCR with detection, recognition, and layout analysis.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TrOCR (Microsoft)</a:t>
            </a:r>
            <a:r>
              <a:rPr lang="en" sz="1100">
                <a:solidFill>
                  <a:schemeClr val="dk1"/>
                </a:solidFill>
              </a:rPr>
              <a:t> – Transformer-based OCR with state-of-the-art handwriting recognition.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Donut</a:t>
            </a:r>
            <a:r>
              <a:rPr lang="en" sz="1100">
                <a:solidFill>
                  <a:schemeClr val="dk1"/>
                </a:solidFill>
              </a:rPr>
              <a:t> – OCR-free transformer model that directly extracts text and structure from documents.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LayoutLM / LayoutLMv3</a:t>
            </a:r>
            <a:r>
              <a:rPr lang="en" sz="1100">
                <a:solidFill>
                  <a:schemeClr val="dk1"/>
                </a:solidFill>
              </a:rPr>
              <a:t> – Reads text + layout + image jointly for structured document understanding.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YOLO OCR (Detection only)</a:t>
            </a:r>
            <a:r>
              <a:rPr lang="en" sz="1100">
                <a:solidFill>
                  <a:schemeClr val="dk1"/>
                </a:solidFill>
              </a:rPr>
              <a:t> – Detects text regions in images for downstream OCR models.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VisionEncoderDecoder OCR models (e.g., ViT-GPT2)</a:t>
            </a:r>
            <a:r>
              <a:rPr lang="en" sz="1100">
                <a:solidFill>
                  <a:schemeClr val="dk1"/>
                </a:solidFill>
              </a:rPr>
              <a:t> – Encoder-decoder transformers for custom OCR tasks.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Rosetta OCR (Facebook)</a:t>
            </a:r>
            <a:r>
              <a:rPr lang="en" sz="1100">
                <a:solidFill>
                  <a:schemeClr val="dk1"/>
                </a:solidFill>
              </a:rPr>
              <a:t> – Scene-text OCR used on Instagram and Facebook feeds.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CRNN</a:t>
            </a:r>
            <a:r>
              <a:rPr lang="en" sz="1100">
                <a:solidFill>
                  <a:schemeClr val="dk1"/>
                </a:solidFill>
              </a:rPr>
              <a:t> – CNN + RNN based OCR widely used for number plates and natural scenes.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TransformerOCR</a:t>
            </a:r>
            <a:r>
              <a:rPr lang="en" sz="1100">
                <a:solidFill>
                  <a:schemeClr val="dk1"/>
                </a:solidFill>
              </a:rPr>
              <a:t> – Pure transformer OCR achieving modern high accuracy.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8"/>
          <p:cNvSpPr txBox="1"/>
          <p:nvPr>
            <p:ph idx="1" type="body"/>
          </p:nvPr>
        </p:nvSpPr>
        <p:spPr>
          <a:xfrm>
            <a:off x="0" y="95250"/>
            <a:ext cx="9085500" cy="5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Tracking (Multi-Object Tracking – MOT)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Track objects across frames.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Real-life examples:</a:t>
            </a:r>
            <a:endParaRPr b="1" sz="13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Person tracking in malls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Vehicle tracking in highways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Player tracking in cricket/football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Wildlife monitoring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DeepSORT</a:t>
            </a:r>
            <a:r>
              <a:rPr lang="en" sz="1100">
                <a:solidFill>
                  <a:schemeClr val="dk1"/>
                </a:solidFill>
              </a:rPr>
              <a:t> – Classic tracker combining appearance embeddings + Kalman filter.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ByteTrack</a:t>
            </a:r>
            <a:r>
              <a:rPr lang="en" sz="1100">
                <a:solidFill>
                  <a:schemeClr val="dk1"/>
                </a:solidFill>
              </a:rPr>
              <a:t> – High-accuracy tracker using both high- and low-score detections.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OC-SORT</a:t>
            </a:r>
            <a:r>
              <a:rPr lang="en" sz="1100">
                <a:solidFill>
                  <a:schemeClr val="dk1"/>
                </a:solidFill>
              </a:rPr>
              <a:t> – Improved SORT using better motion modeling for occlusions.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BoT-SORT</a:t>
            </a:r>
            <a:r>
              <a:rPr lang="en" sz="1100">
                <a:solidFill>
                  <a:schemeClr val="dk1"/>
                </a:solidFill>
              </a:rPr>
              <a:t> – State-of-the-art SORT variant with strong re-ID features.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StrongSORT</a:t>
            </a:r>
            <a:r>
              <a:rPr lang="en" sz="1100">
                <a:solidFill>
                  <a:schemeClr val="dk1"/>
                </a:solidFill>
              </a:rPr>
              <a:t> – Enhanced DeepSORT with appearance, motion, and camera motion compensation.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FairMOT</a:t>
            </a:r>
            <a:r>
              <a:rPr lang="en" sz="1100">
                <a:solidFill>
                  <a:schemeClr val="dk1"/>
                </a:solidFill>
              </a:rPr>
              <a:t> – One-shot detection + tracking with shared backbone.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JDE</a:t>
            </a:r>
            <a:r>
              <a:rPr lang="en" sz="1100">
                <a:solidFill>
                  <a:schemeClr val="dk1"/>
                </a:solidFill>
              </a:rPr>
              <a:t> – Joint detection + embedding model for real-time MOT.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QDTrack</a:t>
            </a:r>
            <a:r>
              <a:rPr lang="en" sz="1100">
                <a:solidFill>
                  <a:schemeClr val="dk1"/>
                </a:solidFill>
              </a:rPr>
              <a:t> – Query-based tracking using transformer attention.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TransTrack</a:t>
            </a:r>
            <a:r>
              <a:rPr lang="en" sz="1100">
                <a:solidFill>
                  <a:schemeClr val="dk1"/>
                </a:solidFill>
              </a:rPr>
              <a:t> – Transformer-based MOT using object queries.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TrackFormer</a:t>
            </a:r>
            <a:r>
              <a:rPr lang="en" sz="1100">
                <a:solidFill>
                  <a:schemeClr val="dk1"/>
                </a:solidFill>
              </a:rPr>
              <a:t> – MOT using DETR-style end-to-end tracking.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9"/>
          <p:cNvSpPr txBox="1"/>
          <p:nvPr>
            <p:ph idx="1" type="body"/>
          </p:nvPr>
        </p:nvSpPr>
        <p:spPr>
          <a:xfrm>
            <a:off x="117225" y="0"/>
            <a:ext cx="8960700" cy="50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Action Recognition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Detect what action is happening in a video.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Real-life examples:</a:t>
            </a:r>
            <a:endParaRPr b="1"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Fall detection for elderly people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Violence detection in CCTV footage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Human activity recognition (running, sitting, sleeping)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I3D (Inflated 3D ConvNet)</a:t>
            </a:r>
            <a:r>
              <a:rPr lang="en" sz="1100">
                <a:solidFill>
                  <a:schemeClr val="dk1"/>
                </a:solidFill>
              </a:rPr>
              <a:t> – Classic strong baseline using 3D CNNs for video actions.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C3D</a:t>
            </a:r>
            <a:r>
              <a:rPr lang="en" sz="1100">
                <a:solidFill>
                  <a:schemeClr val="dk1"/>
                </a:solidFill>
              </a:rPr>
              <a:t> – Simple and fast 3D CNN for video feature extraction.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R(2+1)D</a:t>
            </a:r>
            <a:r>
              <a:rPr lang="en" sz="1100">
                <a:solidFill>
                  <a:schemeClr val="dk1"/>
                </a:solidFill>
              </a:rPr>
              <a:t> – Decomposed 3D CNN with better performance and efficiency.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SlowFast Network</a:t>
            </a:r>
            <a:r>
              <a:rPr lang="en" sz="1100">
                <a:solidFill>
                  <a:schemeClr val="dk1"/>
                </a:solidFill>
              </a:rPr>
              <a:t> – Dual-path model capturing slow + fast motion dynamics.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TSN (Temporal Segment Network)</a:t>
            </a:r>
            <a:r>
              <a:rPr lang="en" sz="1100">
                <a:solidFill>
                  <a:schemeClr val="dk1"/>
                </a:solidFill>
              </a:rPr>
              <a:t> – Lightweight action recognition using RGB frame sampling.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TRN (Temporal Relation Network)</a:t>
            </a:r>
            <a:r>
              <a:rPr lang="en" sz="1100">
                <a:solidFill>
                  <a:schemeClr val="dk1"/>
                </a:solidFill>
              </a:rPr>
              <a:t> – Models temporal relations across frame segments.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X3D</a:t>
            </a:r>
            <a:r>
              <a:rPr lang="en" sz="1100">
                <a:solidFill>
                  <a:schemeClr val="dk1"/>
                </a:solidFill>
              </a:rPr>
              <a:t> – Efficient, scalable 3D CNN model for video recognition.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TimeSformer</a:t>
            </a:r>
            <a:r>
              <a:rPr lang="en" sz="1100">
                <a:solidFill>
                  <a:schemeClr val="dk1"/>
                </a:solidFill>
              </a:rPr>
              <a:t> – Pure transformer-based action recognition model.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Video Swin Transformer</a:t>
            </a:r>
            <a:r>
              <a:rPr lang="en" sz="1100">
                <a:solidFill>
                  <a:schemeClr val="dk1"/>
                </a:solidFill>
              </a:rPr>
              <a:t> – Hierarchical transformer for video understanding.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MViT (Multiscale Vision Transformer)</a:t>
            </a:r>
            <a:r>
              <a:rPr lang="en" sz="1100">
                <a:solidFill>
                  <a:schemeClr val="dk1"/>
                </a:solidFill>
              </a:rPr>
              <a:t> – Multiscale transformer for video actions.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0"/>
          <p:cNvSpPr txBox="1"/>
          <p:nvPr>
            <p:ph idx="1" type="body"/>
          </p:nvPr>
        </p:nvSpPr>
        <p:spPr>
          <a:xfrm>
            <a:off x="311700" y="0"/>
            <a:ext cx="85206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Pose Estimation: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Detect human body joints.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Real-life examples:</a:t>
            </a:r>
            <a:endParaRPr b="1" sz="13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Yoga posture correction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Sports performance analytics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Driver drowsiness detection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Gesture recognition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OpenPose</a:t>
            </a:r>
            <a:r>
              <a:rPr lang="en" sz="1100">
                <a:solidFill>
                  <a:schemeClr val="dk1"/>
                </a:solidFill>
              </a:rPr>
              <a:t> – Multi-person 2D keypoint detection with part affinity fields.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AlphaPose</a:t>
            </a:r>
            <a:r>
              <a:rPr lang="en" sz="1100">
                <a:solidFill>
                  <a:schemeClr val="dk1"/>
                </a:solidFill>
              </a:rPr>
              <a:t> – High-accuracy multi-person pose estimator.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HRNet</a:t>
            </a:r>
            <a:r>
              <a:rPr lang="en" sz="1100">
                <a:solidFill>
                  <a:schemeClr val="dk1"/>
                </a:solidFill>
              </a:rPr>
              <a:t> – High-resolution network preserving spatial details for pose.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MMPose (OpenMMLab)</a:t>
            </a:r>
            <a:r>
              <a:rPr lang="en" sz="1100">
                <a:solidFill>
                  <a:schemeClr val="dk1"/>
                </a:solidFill>
              </a:rPr>
              <a:t> – Framework with 60+ SOTA pose models.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ViTPose</a:t>
            </a:r>
            <a:r>
              <a:rPr lang="en" sz="1100">
                <a:solidFill>
                  <a:schemeClr val="dk1"/>
                </a:solidFill>
              </a:rPr>
              <a:t> – Vision Transformer–based pose estimation.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DWPose</a:t>
            </a:r>
            <a:r>
              <a:rPr lang="en" sz="1100">
                <a:solidFill>
                  <a:schemeClr val="dk1"/>
                </a:solidFill>
              </a:rPr>
              <a:t> – YOLO-based fast lightweight pose model (for real-time).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YOLO-Pose</a:t>
            </a:r>
            <a:r>
              <a:rPr lang="en" sz="1100">
                <a:solidFill>
                  <a:schemeClr val="dk1"/>
                </a:solidFill>
              </a:rPr>
              <a:t> – YOLO architecture extended for pose keypoints.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RTMPose</a:t>
            </a:r>
            <a:r>
              <a:rPr lang="en" sz="1100">
                <a:solidFill>
                  <a:schemeClr val="dk1"/>
                </a:solidFill>
              </a:rPr>
              <a:t> – Real-time pose model optimized for speed and accuracy.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MoveNet</a:t>
            </a:r>
            <a:r>
              <a:rPr lang="en" sz="1100">
                <a:solidFill>
                  <a:schemeClr val="dk1"/>
                </a:solidFill>
              </a:rPr>
              <a:t> – Google’s ultra-fast real-time pose estimator.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PoseResNet</a:t>
            </a:r>
            <a:r>
              <a:rPr lang="en" sz="1100">
                <a:solidFill>
                  <a:schemeClr val="dk1"/>
                </a:solidFill>
              </a:rPr>
              <a:t> – ResNet backbone for human pose.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1"/>
          <p:cNvSpPr txBox="1"/>
          <p:nvPr>
            <p:ph idx="1" type="body"/>
          </p:nvPr>
        </p:nvSpPr>
        <p:spPr>
          <a:xfrm>
            <a:off x="58625" y="73275"/>
            <a:ext cx="8773800" cy="49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Semantic Segmentation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Assign a class to </a:t>
            </a:r>
            <a:r>
              <a:rPr b="1" lang="en" sz="1100">
                <a:solidFill>
                  <a:schemeClr val="dk1"/>
                </a:solidFill>
              </a:rPr>
              <a:t>every pixel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Real-life examples:</a:t>
            </a:r>
            <a:endParaRPr b="1" sz="13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Road lane segmentation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Tumor segmentation in medical images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Agriculture crop segmentation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Building extraction from satellite images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U-Net</a:t>
            </a:r>
            <a:r>
              <a:rPr lang="en" sz="1100">
                <a:solidFill>
                  <a:schemeClr val="dk1"/>
                </a:solidFill>
              </a:rPr>
              <a:t> – Classic encoder–decoder model for medical &amp; general segmentation.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U-Net++</a:t>
            </a:r>
            <a:r>
              <a:rPr lang="en" sz="1100">
                <a:solidFill>
                  <a:schemeClr val="dk1"/>
                </a:solidFill>
              </a:rPr>
              <a:t> – Improved U-Net with nested skip connections.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SegNet</a:t>
            </a:r>
            <a:r>
              <a:rPr lang="en" sz="1100">
                <a:solidFill>
                  <a:schemeClr val="dk1"/>
                </a:solidFill>
              </a:rPr>
              <a:t> – Encoder–decoder with pooling indices for memory efficiency.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DeepLabV3</a:t>
            </a:r>
            <a:r>
              <a:rPr lang="en" sz="1100">
                <a:solidFill>
                  <a:schemeClr val="dk1"/>
                </a:solidFill>
              </a:rPr>
              <a:t> – Atrous convolutions + ASPP for strong semantic segmentation.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DeepLabV3+</a:t>
            </a:r>
            <a:r>
              <a:rPr lang="en" sz="1100">
                <a:solidFill>
                  <a:schemeClr val="dk1"/>
                </a:solidFill>
              </a:rPr>
              <a:t> – DeepLab with decoder module for sharper boundaries.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PSPNet (Pyramid Scene Parsing Network)</a:t>
            </a:r>
            <a:r>
              <a:rPr lang="en" sz="1100">
                <a:solidFill>
                  <a:schemeClr val="dk1"/>
                </a:solidFill>
              </a:rPr>
              <a:t> – Global context with pyramid pooling.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FCN (Fully Convolutional Network)</a:t>
            </a:r>
            <a:r>
              <a:rPr lang="en" sz="1100">
                <a:solidFill>
                  <a:schemeClr val="dk1"/>
                </a:solidFill>
              </a:rPr>
              <a:t> – First end-to-end CNN segmentation model.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BiSeNet</a:t>
            </a:r>
            <a:r>
              <a:rPr lang="en" sz="1100">
                <a:solidFill>
                  <a:schemeClr val="dk1"/>
                </a:solidFill>
              </a:rPr>
              <a:t> – Real-time segmentation with bilateral paths.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ICNet</a:t>
            </a:r>
            <a:r>
              <a:rPr lang="en" sz="1100">
                <a:solidFill>
                  <a:schemeClr val="dk1"/>
                </a:solidFill>
              </a:rPr>
              <a:t> – Fast multi-resolution segmentation model.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2"/>
          <p:cNvSpPr txBox="1"/>
          <p:nvPr>
            <p:ph idx="1" type="body"/>
          </p:nvPr>
        </p:nvSpPr>
        <p:spPr>
          <a:xfrm>
            <a:off x="65950" y="80600"/>
            <a:ext cx="8997600" cy="49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Instance Segmentation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Semantic segmentation + detect each separate object.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Real-life examples: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Detect &amp; segment each car in traffic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Count number of oranges on a tree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Segment and track players in sports analytics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Mask R-CNN</a:t>
            </a:r>
            <a:r>
              <a:rPr lang="en" sz="1100">
                <a:solidFill>
                  <a:schemeClr val="dk1"/>
                </a:solidFill>
              </a:rPr>
              <a:t> – Classic two-stage detector + mask branch.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Cascade Mask R-CNN</a:t>
            </a:r>
            <a:r>
              <a:rPr lang="en" sz="1100">
                <a:solidFill>
                  <a:schemeClr val="dk1"/>
                </a:solidFill>
              </a:rPr>
              <a:t> – Multi-stage refinement for higher accuracy.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YOLACT</a:t>
            </a:r>
            <a:r>
              <a:rPr lang="en" sz="1100">
                <a:solidFill>
                  <a:schemeClr val="dk1"/>
                </a:solidFill>
              </a:rPr>
              <a:t> – Real-time, one-stage instance segmentation.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YOLACT++</a:t>
            </a:r>
            <a:r>
              <a:rPr lang="en" sz="1100">
                <a:solidFill>
                  <a:schemeClr val="dk1"/>
                </a:solidFill>
              </a:rPr>
              <a:t> – Faster and more accurate version of YOLACT.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SOLO (Segmenting Objects by Locations)</a:t>
            </a:r>
            <a:r>
              <a:rPr lang="en" sz="1100">
                <a:solidFill>
                  <a:schemeClr val="dk1"/>
                </a:solidFill>
              </a:rPr>
              <a:t> – Fully convolutional instance segmentation.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SOLOv2</a:t>
            </a:r>
            <a:r>
              <a:rPr lang="en" sz="1100">
                <a:solidFill>
                  <a:schemeClr val="dk1"/>
                </a:solidFill>
              </a:rPr>
              <a:t> – Improved, faster, more accurate SOLO architecture.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BlendMask</a:t>
            </a:r>
            <a:r>
              <a:rPr lang="en" sz="1100">
                <a:solidFill>
                  <a:schemeClr val="dk1"/>
                </a:solidFill>
              </a:rPr>
              <a:t> – Combines FPN with instance-aware attention.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CondInst</a:t>
            </a:r>
            <a:r>
              <a:rPr lang="en" sz="1100">
                <a:solidFill>
                  <a:schemeClr val="dk1"/>
                </a:solidFill>
              </a:rPr>
              <a:t> – Dynamic convolution-based instance segmentation.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3"/>
          <p:cNvSpPr txBox="1"/>
          <p:nvPr>
            <p:ph idx="1" type="body"/>
          </p:nvPr>
        </p:nvSpPr>
        <p:spPr>
          <a:xfrm>
            <a:off x="51300" y="43950"/>
            <a:ext cx="8781000" cy="50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Image Generation (Generative Vision Tasks)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Using GANs / Diffusion / Transformers.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Examples:</a:t>
            </a:r>
            <a:endParaRPr b="1" sz="13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Generate product catalog images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Convert sketches to images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Face aging / de-aging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AI avatars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Diffusion Models </a:t>
            </a:r>
            <a:endParaRPr b="1" sz="17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Stable Diffusion XL (SDXL)</a:t>
            </a:r>
            <a:r>
              <a:rPr lang="en" sz="1100">
                <a:solidFill>
                  <a:schemeClr val="dk1"/>
                </a:solidFill>
              </a:rPr>
              <a:t> – High-quality, realistic, clean output.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DALL·E 3</a:t>
            </a:r>
            <a:r>
              <a:rPr lang="en" sz="1100">
                <a:solidFill>
                  <a:schemeClr val="dk1"/>
                </a:solidFill>
              </a:rPr>
              <a:t> – Best natural-language → image understanding today.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GAN Models </a:t>
            </a:r>
            <a:endParaRPr b="1" sz="17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 startAt="3"/>
            </a:pPr>
            <a:r>
              <a:rPr b="1" lang="en" sz="1100">
                <a:solidFill>
                  <a:schemeClr val="dk1"/>
                </a:solidFill>
              </a:rPr>
              <a:t>StyleGAN3</a:t>
            </a:r>
            <a:r>
              <a:rPr lang="en" sz="1100">
                <a:solidFill>
                  <a:schemeClr val="dk1"/>
                </a:solidFill>
              </a:rPr>
              <a:t> – SOTA GAN for face and object generation.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 startAt="3"/>
            </a:pPr>
            <a:r>
              <a:rPr b="1" lang="en" sz="1100">
                <a:solidFill>
                  <a:schemeClr val="dk1"/>
                </a:solidFill>
              </a:rPr>
              <a:t>CycleGAN</a:t>
            </a:r>
            <a:r>
              <a:rPr lang="en" sz="1100">
                <a:solidFill>
                  <a:schemeClr val="dk1"/>
                </a:solidFill>
              </a:rPr>
              <a:t> – Image-to-image translation (horse→zebra, summer→winter).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Multimodal / Foundation Model</a:t>
            </a:r>
            <a:endParaRPr b="1" sz="17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 startAt="5"/>
            </a:pPr>
            <a:r>
              <a:rPr b="1" lang="en" sz="1100">
                <a:solidFill>
                  <a:schemeClr val="dk1"/>
                </a:solidFill>
              </a:rPr>
              <a:t>Midjourney v6</a:t>
            </a:r>
            <a:r>
              <a:rPr lang="en" sz="1100">
                <a:solidFill>
                  <a:schemeClr val="dk1"/>
                </a:solidFill>
              </a:rPr>
              <a:t> – Creative, artistic image generation.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 startAt="5"/>
            </a:pPr>
            <a:r>
              <a:rPr b="1" lang="en" sz="1100">
                <a:solidFill>
                  <a:schemeClr val="dk1"/>
                </a:solidFill>
              </a:rPr>
              <a:t>Imagen 2 (Google)</a:t>
            </a:r>
            <a:r>
              <a:rPr lang="en" sz="1100">
                <a:solidFill>
                  <a:schemeClr val="dk1"/>
                </a:solidFill>
              </a:rPr>
              <a:t> – Photorealistic high-fidelity model.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0" name="Google Shape;220;p44"/>
          <p:cNvGraphicFramePr/>
          <p:nvPr/>
        </p:nvGraphicFramePr>
        <p:xfrm>
          <a:off x="317775" y="10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{69835E78-AF98-4DD7-9368-07BF9D375FF5}</a:tableStyleId>
              </a:tblPr>
              <a:tblGrid>
                <a:gridCol w="2794825"/>
                <a:gridCol w="2794825"/>
                <a:gridCol w="2794825"/>
              </a:tblGrid>
              <a:tr h="471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Layer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Model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Task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49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Base Vision Backbone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ViT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classification, features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Detection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DETR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detection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Segmentation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SAM / Mask2Former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segmentation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Tracking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DETR + ByteTrack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tracking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OCR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TrOCR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text extraction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Pose Estimation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ViTPose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keypoints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Action Recognition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TimeSFormer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video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Generation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Stable Diffusion (ViT-powered)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image creation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9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Enhancement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SR3 / ESRGAN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super-resolution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5"/>
          <p:cNvSpPr txBox="1"/>
          <p:nvPr>
            <p:ph idx="1" type="body"/>
          </p:nvPr>
        </p:nvSpPr>
        <p:spPr>
          <a:xfrm>
            <a:off x="311700" y="51075"/>
            <a:ext cx="8520600" cy="50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Step 1: Clone repo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git clone &lt;repo-link&gt;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Step 2: Install dependencies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pip install -r requirements.txt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Step 3: Download pretrained weights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(From releases / huggingface / drive)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Step 4: Run inference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python predict.py --weights &lt;model.pt&gt; --source &lt;image&gt;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Step 5: Integrate model in your own Python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(Import model class or torch.hub)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